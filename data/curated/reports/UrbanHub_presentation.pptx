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00000"/>
            <a:ext cx="12192000" cy="4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10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UrbanHub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34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  <a:latin typeface="Calibri"/>
              </a:rPr>
              <a:t>Jumeau numérique urbain — Plateforme Smart City Big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430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Ingestion &amp; analyse de 3 flux : Batch météo · Streaming vélos · IoT pollution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0000"/>
            <a:ext cx="4200000" cy="3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600000"/>
            <a:ext cx="112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B57"/>
                </a:solidFill>
                <a:latin typeface="Calibri"/>
              </a:rPr>
              <a:t>Une Smart City génère des données en continu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600000"/>
            <a:ext cx="11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Capteurs IoT (pollution, bruit, incidents), consommation énergétique, météo, trafic, événements urbains…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Ces données doivent être collectées, stockées, traitées et analysées pour produire des indicateurs utiles aux décideurs publics.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Objectif : développer UrbanHub, une plateforme capable d'ingérer et d'analyser ces données — un jumeau numérique urbain.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Trois types de flux typiques d'un système Big Data réel 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55F66"/>
                </a:solidFill>
                <a:latin typeface="Calibri"/>
              </a:rPr>
              <a:t>– Flux Batch — données historiques massives (météo)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55F66"/>
                </a:solidFill>
                <a:latin typeface="Calibri"/>
              </a:rPr>
              <a:t>– Flux Streaming — données temps réel (mobilité / vélos)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55F66"/>
                </a:solidFill>
                <a:latin typeface="Calibri"/>
              </a:rPr>
              <a:t>– Flux IoT — données capteurs (pollution atmosphérique)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0000"/>
            <a:ext cx="4200000" cy="3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600000"/>
            <a:ext cx="112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B57"/>
                </a:solidFill>
                <a:latin typeface="Calibri"/>
              </a:rPr>
              <a:t>Une chaîne de valeur de la donnée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2600000"/>
            <a:ext cx="1698666" cy="130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2600000"/>
            <a:ext cx="1698666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Sources
(NOAA · CityBikes · OpenAQ)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8666" y="2600000"/>
            <a:ext cx="20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55F66"/>
                </a:solidFill>
                <a:latin typeface="Calibri"/>
              </a:rPr>
              <a:t>›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8666" y="2600000"/>
            <a:ext cx="1698666" cy="1300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8666" y="2600000"/>
            <a:ext cx="1698666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Ingestion
(API · download // · scraping)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7332" y="2600000"/>
            <a:ext cx="20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55F66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332" y="2600000"/>
            <a:ext cx="1698666" cy="130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332" y="2600000"/>
            <a:ext cx="1698666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Data Lake
(raw, partitionné par date)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5998" y="2600000"/>
            <a:ext cx="20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55F66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5998" y="2600000"/>
            <a:ext cx="1698666" cy="1300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5998" y="2600000"/>
            <a:ext cx="1698666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Traitement
(nettoyage → Parquet)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664" y="2600000"/>
            <a:ext cx="20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55F66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4664" y="2600000"/>
            <a:ext cx="1698666" cy="130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4664" y="2600000"/>
            <a:ext cx="1698666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Analyse Data / IA
(corrélations, indices)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3330" y="2600000"/>
            <a:ext cx="20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55F66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93330" y="2600000"/>
            <a:ext cx="1698666" cy="1300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93330" y="2600000"/>
            <a:ext cx="1698666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Indicateurs urbains
(JSON · CSV · dashboard)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000" y="4400000"/>
            <a:ext cx="110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Data lake structuré en 3 zones : raw (brut immuable) → processed (Parquet nettoyé) → curated (indicateurs).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Partitionnement Hive year=/month=/day= pour un traitement incrémental.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Orchestration via une CLI unique (init · batch · stream · iot · process · analyze · dashboard · slides).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0000"/>
            <a:ext cx="4200000" cy="3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600000"/>
            <a:ext cx="112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B57"/>
                </a:solidFill>
                <a:latin typeface="Calibri"/>
              </a:rPr>
              <a:t>Les chiffres clés de la plateforme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2400000"/>
            <a:ext cx="2650000" cy="11500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0000" y="2400000"/>
            <a:ext cx="2650000" cy="7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2580000"/>
            <a:ext cx="265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3B57"/>
                </a:solidFill>
                <a:latin typeface="Calibri"/>
              </a:rPr>
              <a:t>24 216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3120000"/>
            <a:ext cx="2650000" cy="3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55F66"/>
                </a:solidFill>
                <a:latin typeface="Calibri"/>
              </a:rPr>
              <a:t>Observations météo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0" y="2400000"/>
            <a:ext cx="2650000" cy="11500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0000" y="2400000"/>
            <a:ext cx="2650000" cy="7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0000" y="2580000"/>
            <a:ext cx="265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3B57"/>
                </a:solidFill>
                <a:latin typeface="Calibri"/>
              </a:rPr>
              <a:t>5 639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000" y="3120000"/>
            <a:ext cx="2650000" cy="3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55F66"/>
                </a:solidFill>
                <a:latin typeface="Calibri"/>
              </a:rPr>
              <a:t>Stations vélos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000" y="2400000"/>
            <a:ext cx="2650000" cy="11500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000" y="2400000"/>
            <a:ext cx="2650000" cy="7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000" y="2580000"/>
            <a:ext cx="265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3B57"/>
                </a:solidFill>
                <a:latin typeface="Calibri"/>
              </a:rPr>
              <a:t>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000" y="3120000"/>
            <a:ext cx="2650000" cy="3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55F66"/>
                </a:solidFill>
                <a:latin typeface="Calibri"/>
              </a:rPr>
              <a:t>Réseaux vélos FR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00000" y="2400000"/>
            <a:ext cx="2650000" cy="11500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0000" y="2400000"/>
            <a:ext cx="2650000" cy="7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0000" y="2580000"/>
            <a:ext cx="265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3B57"/>
                </a:solidFill>
                <a:latin typeface="Calibri"/>
              </a:rPr>
              <a:t>5 328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0000" y="3120000"/>
            <a:ext cx="2650000" cy="3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55F66"/>
                </a:solidFill>
                <a:latin typeface="Calibri"/>
              </a:rPr>
              <a:t>Mesures pollution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000" y="4000000"/>
            <a:ext cx="110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F66"/>
                </a:solidFill>
                <a:latin typeface="Calibri"/>
              </a:rPr>
              <a:t>12 principales villes françaises suivies · données réelles collectées via les API publiques NOAA, CityBikes et OpenAQ.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0000"/>
            <a:ext cx="4200000" cy="3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ARCHITECTURE BIG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600000"/>
            <a:ext cx="112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B57"/>
                </a:solidFill>
                <a:latin typeface="Calibri"/>
              </a:rPr>
              <a:t>Une architecture Lambda (Batch + Temps réel)</a:t>
            </a:r>
          </a:p>
        </p:txBody>
      </p:sp>
      <p:pic>
        <p:nvPicPr>
          <p:cNvPr id="6" name="Picture 5" descr="architecture_big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450000"/>
            <a:ext cx="11200000" cy="63333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0000" y="6350000"/>
            <a:ext cx="112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66"/>
                </a:solidFill>
                <a:latin typeface="Calibri"/>
              </a:rPr>
              <a:t>Ingérer (Kafka) · Stocker (data lake MinIO/Parquet) · Transformer (Spark batch + Structured Streaming) · Restituer (QuestDB + Streamlit/Grafana). Chaque techno open source est choisie face à ses concurrentes.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0000"/>
            <a:ext cx="4200000" cy="3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PARTIE 1 · FLUX 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600000"/>
            <a:ext cx="112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B57"/>
                </a:solidFill>
                <a:latin typeface="Calibri"/>
              </a:rPr>
              <a:t>Analyse météorologique urbaine (NOAA)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550000"/>
            <a:ext cx="56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3B57"/>
                </a:solidFill>
                <a:latin typeface="Calibri"/>
              </a:rPr>
              <a:t>• Téléchargement PARALLÈLE des stations FR (ThreadPoolExecutor), 5 ans d'historique — jamais fichier par fichier.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B57"/>
                </a:solidFill>
                <a:latin typeface="Calibri"/>
              </a:rPr>
              <a:t>• Nettoyage : parsing ISD, conversion d'unités, valeurs manquantes, timestamp UTC, humidité (Magnus).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B57"/>
                </a:solidFill>
                <a:latin typeface="Calibri"/>
              </a:rPr>
              <a:t>• Questions métier traitées 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F66"/>
                </a:solidFill>
                <a:latin typeface="Calibri"/>
              </a:rPr>
              <a:t>– Périodes anormales (z-score vs normale mensuelle)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F66"/>
                </a:solidFill>
                <a:latin typeface="Calibri"/>
              </a:rPr>
              <a:t>– Corrélation météo ↔ visibilité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F66"/>
                </a:solidFill>
                <a:latin typeface="Calibri"/>
              </a:rPr>
              <a:t>– Évolution saisonnière de la température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F66"/>
                </a:solidFill>
                <a:latin typeface="Calibri"/>
              </a:rPr>
              <a:t>– Jours extrêmes : chaud 37.0°C, froid -5.9°C</a:t>
            </a:r>
          </a:p>
        </p:txBody>
      </p:sp>
      <p:pic>
        <p:nvPicPr>
          <p:cNvPr id="7" name="Picture 6" descr="weather_saisonn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00" y="1700000"/>
            <a:ext cx="5100000" cy="255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0000"/>
            <a:ext cx="4200000" cy="3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PARTIE 2 · FLUX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600000"/>
            <a:ext cx="112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B57"/>
                </a:solidFill>
                <a:latin typeface="Calibri"/>
              </a:rPr>
              <a:t>Mobilité urbaine (CityBikes)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550000"/>
            <a:ext cx="56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3B57"/>
                </a:solidFill>
                <a:latin typeface="Calibri"/>
              </a:rPr>
              <a:t>• Récupération automatique toutes les minutes de l'état des stations de tous les réseaux FR (Vélib' inclus).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B57"/>
                </a:solidFill>
                <a:latin typeface="Calibri"/>
              </a:rPr>
              <a:t>• Variables : station_id, nom, lat/lon, bikes_available, free_slots, timestamp.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B57"/>
                </a:solidFill>
                <a:latin typeface="Calibri"/>
              </a:rPr>
              <a:t>• Questions métier traitées 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F66"/>
                </a:solidFill>
                <a:latin typeface="Calibri"/>
              </a:rPr>
              <a:t>– Stations les plus utilisées (taux d'occupation)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F66"/>
                </a:solidFill>
                <a:latin typeface="Calibri"/>
              </a:rPr>
              <a:t>– Zones à offre insuffisante (souvent vides)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F66"/>
                </a:solidFill>
                <a:latin typeface="Calibri"/>
              </a:rPr>
              <a:t>– Pics d'utilisation journaliers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F66"/>
                </a:solidFill>
                <a:latin typeface="Calibri"/>
              </a:rPr>
              <a:t>– Déséquilibres géographiques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F66"/>
                </a:solidFill>
                <a:latin typeface="Calibri"/>
              </a:rPr>
              <a:t>– Stations critiques à rééquilibrer (pénurie / saturation)</a:t>
            </a:r>
          </a:p>
        </p:txBody>
      </p:sp>
      <p:pic>
        <p:nvPicPr>
          <p:cNvPr id="7" name="Picture 6" descr="mobility_profil_hor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00" y="1700000"/>
            <a:ext cx="5100000" cy="255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0000"/>
            <a:ext cx="4200000" cy="3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PARTIE 3 · FLUX 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600000"/>
            <a:ext cx="112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B57"/>
                </a:solidFill>
                <a:latin typeface="Calibri"/>
              </a:rPr>
              <a:t>Pollution atmosphérique (OpenAQ)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550000"/>
            <a:ext cx="56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3B57"/>
                </a:solidFill>
                <a:latin typeface="Calibri"/>
              </a:rPr>
              <a:t>• Ingestion régulière simulant un flux IoT pour les principales villes.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B57"/>
                </a:solidFill>
                <a:latin typeface="Calibri"/>
              </a:rPr>
              <a:t>• Polluants : PM2.5, PM10, NO₂, O₃, SO₂, 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B57"/>
                </a:solidFill>
                <a:latin typeface="Calibri"/>
              </a:rPr>
              <a:t>• Mode réel via l'API OpenAQ (clé X-API-Key) ou simulateur réaliste avec cycles diurnes + backfill d'historique.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B57"/>
                </a:solidFill>
                <a:latin typeface="Calibri"/>
              </a:rPr>
              <a:t>• Questions métier traitées 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F66"/>
                </a:solidFill>
                <a:latin typeface="Calibri"/>
              </a:rPr>
              <a:t>– Villes les plus polluées par polluant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F66"/>
                </a:solidFill>
                <a:latin typeface="Calibri"/>
              </a:rPr>
              <a:t>– Profils horaires (pics trafic NO₂, ozone l'après-midi)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F66"/>
                </a:solidFill>
                <a:latin typeface="Calibri"/>
              </a:rPr>
              <a:t>– Dépassements des seuils OMS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F66"/>
                </a:solidFill>
                <a:latin typeface="Calibri"/>
              </a:rPr>
              <a:t>– Indice de qualité de l'air par ville</a:t>
            </a:r>
          </a:p>
        </p:txBody>
      </p:sp>
      <p:pic>
        <p:nvPicPr>
          <p:cNvPr id="7" name="Picture 6" descr="pollution_classement_vil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00" y="1700000"/>
            <a:ext cx="5100000" cy="2868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0000"/>
            <a:ext cx="4200000" cy="3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PARTIE 4 · ANALYSE CROISÉE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600000"/>
            <a:ext cx="112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B57"/>
                </a:solidFill>
                <a:latin typeface="Calibri"/>
              </a:rPr>
              <a:t>Météo × Pollution × Mobilité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550000"/>
            <a:ext cx="56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3B57"/>
                </a:solidFill>
                <a:latin typeface="Calibri"/>
              </a:rPr>
              <a:t>• Croisement sur le CYCLE DIURNE (robuste aux profondeurs temporelles différentes des 3 flux).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B57"/>
                </a:solidFill>
                <a:latin typeface="Calibri"/>
              </a:rPr>
              <a:t>• Relation météo ↔ pollution : forte corrélation ozone/température (signature photochimique).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F66"/>
                </a:solidFill>
                <a:latin typeface="Calibri"/>
              </a:rPr>
              <a:t>– O₃ ↔ température : 0.929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B57"/>
                </a:solidFill>
                <a:latin typeface="Calibri"/>
              </a:rPr>
              <a:t>• Influence de la météo sur l'usage des vélos.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B57"/>
                </a:solidFill>
                <a:latin typeface="Calibri"/>
              </a:rPr>
              <a:t>• Conditions favorables à la mobilité douce (T 12–25°C, sans pluie, vent &lt; 6 m/s) — surtout en été.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B57"/>
                </a:solidFill>
                <a:latin typeface="Calibri"/>
              </a:rPr>
              <a:t>• Interactions météo × pollution × mobilité sur la journée.</a:t>
            </a:r>
          </a:p>
        </p:txBody>
      </p:sp>
      <p:pic>
        <p:nvPicPr>
          <p:cNvPr id="7" name="Picture 6" descr="cross_cycle_diur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00" y="1650000"/>
            <a:ext cx="5100000" cy="255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0000"/>
            <a:ext cx="4200000" cy="3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RESTITUTION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600000"/>
            <a:ext cx="112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B57"/>
                </a:solidFill>
                <a:latin typeface="Calibri"/>
              </a:rPr>
              <a:t>Tableau de bord interactif (Streamlit)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600000"/>
            <a:ext cx="110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4 onglets : Météo · Mobilité · Pollution · Analyse croisée.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Filtres interactifs (menus déroulants à cases à cocher) : villes, polluants, réseaux — les graphiques se recalculent en direct.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KPIs, carte des stations vélos, classements, profils horaires, matrice de corrélation.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Lancement : python -m urbanhub.cli dashboard  →  http://localhost:8501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0000"/>
            <a:ext cx="4200000" cy="30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600000"/>
            <a:ext cx="112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B57"/>
                </a:solidFill>
                <a:latin typeface="Calibri"/>
              </a:rPr>
              <a:t>Livrables &amp;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600000"/>
            <a:ext cx="11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Livrables 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55F66"/>
                </a:solidFill>
                <a:latin typeface="Calibri"/>
              </a:rPr>
              <a:t>– Scripts de collecte des 3 flux (urbanhub/ingestion)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55F66"/>
                </a:solidFill>
                <a:latin typeface="Calibri"/>
              </a:rPr>
              <a:t>– Stockage structuré en data lake (raw / processed / curated)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55F66"/>
                </a:solidFill>
                <a:latin typeface="Calibri"/>
              </a:rPr>
              <a:t>– Traitement data engineering (urbanhub/processing)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55F66"/>
                </a:solidFill>
                <a:latin typeface="Calibri"/>
              </a:rPr>
              <a:t>– Analyses &amp; indicateurs urbains (urbanhub/analysis)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55F66"/>
                </a:solidFill>
                <a:latin typeface="Calibri"/>
              </a:rPr>
              <a:t>– Tableau de bord Streamlit + cette présentation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Perspectives 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55F66"/>
                </a:solidFill>
                <a:latin typeface="Calibri"/>
              </a:rPr>
              <a:t>– Orchestration planifiée (cron / Airflow) pour enrichir le temps réel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55F66"/>
                </a:solidFill>
                <a:latin typeface="Calibri"/>
              </a:rPr>
              <a:t>– Stockage objet (S3/MinIO) + moteur de requête (DuckDB/Spark)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55F66"/>
                </a:solidFill>
                <a:latin typeface="Calibri"/>
              </a:rPr>
              <a:t>– Modèles prédictifs (prévision pollution, demande vélos)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